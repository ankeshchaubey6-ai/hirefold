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6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4" r:id="rId8"/>
    <p:sldId id="266" r:id="rId9"/>
    <p:sldId id="267" r:id="rId10"/>
    <p:sldId id="268" r:id="rId11"/>
    <p:sldId id="269" r:id="rId12"/>
    <p:sldId id="275" r:id="rId13"/>
    <p:sldId id="270" r:id="rId14"/>
    <p:sldId id="271" r:id="rId15"/>
    <p:sldId id="273" r:id="rId16"/>
    <p:sldId id="261" r:id="rId17"/>
    <p:sldId id="262" r:id="rId18"/>
    <p:sldId id="26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F11B176-52C2-4B5B-BCD3-C8755D9BD1C5}">
          <p14:sldIdLst>
            <p14:sldId id="256"/>
            <p14:sldId id="257"/>
            <p14:sldId id="258"/>
            <p14:sldId id="259"/>
            <p14:sldId id="260"/>
            <p14:sldId id="265"/>
            <p14:sldId id="264"/>
            <p14:sldId id="266"/>
            <p14:sldId id="267"/>
            <p14:sldId id="268"/>
            <p14:sldId id="269"/>
            <p14:sldId id="275"/>
            <p14:sldId id="270"/>
            <p14:sldId id="271"/>
            <p14:sldId id="273"/>
            <p14:sldId id="261"/>
            <p14:sldId id="262"/>
            <p14:sldId id="263"/>
          </p14:sldIdLst>
        </p14:section>
        <p14:section name="Untitled Section" id="{53906F65-5712-4910-B58B-3ABCBAAB2670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0F569-AC90-44EB-9EF4-4E5C2F5D823C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8274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D79EF-17C8-45D8-9866-DAF5723FC604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279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C2ADC-3680-4013-A757-E4663495DB98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8472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1BA94-5DCA-4F19-960F-0FB2BD5EE85A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6779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D947-38D9-44AC-8B89-E79758333B77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70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1E23F-BD3C-4F23-B116-2B758120C8AC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7595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CFAA9-6D59-4D98-869E-ACBDB83B2CA4}" type="datetime1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938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10804-27E3-430A-BB42-B831260DE39A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4512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22DE3-3D1A-4D53-B9A6-6C7463B8C992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029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D8B30-1B71-45A1-8314-D59C86F581E1}" type="datetime1">
              <a:rPr lang="en-US" smtClean="0"/>
              <a:pPr/>
              <a:t>2/16/2026</a:t>
            </a:fld>
            <a:endParaRPr lang="en-US" b="1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b="1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pPr/>
              <a:t>‹#›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3509235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D8B30-1B71-45A1-8314-D59C86F581E1}" type="datetime1">
              <a:rPr lang="en-US" smtClean="0"/>
              <a:pPr/>
              <a:t>2/16/2026</a:t>
            </a:fld>
            <a:endParaRPr lang="en-US" b="1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b="1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pPr/>
              <a:t>‹#›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6013731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D8B30-1B71-45A1-8314-D59C86F581E1}" type="datetime1">
              <a:rPr lang="en-US" smtClean="0"/>
              <a:pPr/>
              <a:t>2/16/2026</a:t>
            </a:fld>
            <a:endParaRPr lang="en-US" b="1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b="1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pPr/>
              <a:t>‹#›</a:t>
            </a:fld>
            <a:endParaRPr lang="en-US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0105870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D8B30-1B71-45A1-8314-D59C86F581E1}" type="datetime1">
              <a:rPr lang="en-US" smtClean="0"/>
              <a:pPr/>
              <a:t>2/16/2026</a:t>
            </a:fld>
            <a:endParaRPr lang="en-US" b="1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b="1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pPr/>
              <a:t>‹#›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84904939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D8B30-1B71-45A1-8314-D59C86F581E1}" type="datetime1">
              <a:rPr lang="en-US" smtClean="0"/>
              <a:pPr/>
              <a:t>2/16/2026</a:t>
            </a:fld>
            <a:endParaRPr lang="en-US" b="1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b="1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pPr/>
              <a:t>‹#›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8348674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D8B30-1B71-45A1-8314-D59C86F581E1}" type="datetime1">
              <a:rPr lang="en-US" smtClean="0"/>
              <a:pPr/>
              <a:t>2/16/2026</a:t>
            </a:fld>
            <a:endParaRPr lang="en-US" b="1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b="1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pPr/>
              <a:t>‹#›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1253494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A7D41-E8B7-4A0B-B861-3EC4AE88917D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67689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34823-0B19-4B4E-A643-7A3B0A3D24D6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1490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ECD8B30-1B71-45A1-8314-D59C86F581E1}" type="datetime1">
              <a:rPr lang="en-US" smtClean="0"/>
              <a:pPr/>
              <a:t>2/16/2026</a:t>
            </a:fld>
            <a:endParaRPr lang="en-US" b="1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b="1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450C42-9A0B-4425-92C2-70FCF7C45734}" type="slidenum">
              <a:rPr lang="en-US" smtClean="0"/>
              <a:pPr/>
              <a:t>‹#›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8171005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7" r:id="rId1"/>
    <p:sldLayoutId id="2147483768" r:id="rId2"/>
    <p:sldLayoutId id="2147483769" r:id="rId3"/>
    <p:sldLayoutId id="2147483770" r:id="rId4"/>
    <p:sldLayoutId id="2147483771" r:id="rId5"/>
    <p:sldLayoutId id="2147483772" r:id="rId6"/>
    <p:sldLayoutId id="2147483773" r:id="rId7"/>
    <p:sldLayoutId id="2147483774" r:id="rId8"/>
    <p:sldLayoutId id="2147483775" r:id="rId9"/>
    <p:sldLayoutId id="2147483776" r:id="rId10"/>
    <p:sldLayoutId id="2147483777" r:id="rId11"/>
    <p:sldLayoutId id="2147483778" r:id="rId12"/>
    <p:sldLayoutId id="2147483779" r:id="rId13"/>
    <p:sldLayoutId id="2147483780" r:id="rId14"/>
    <p:sldLayoutId id="2147483781" r:id="rId15"/>
    <p:sldLayoutId id="2147483782" r:id="rId16"/>
    <p:sldLayoutId id="2147483783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D12AF86-EBCD-ABAC-4FCC-4FDD40C9F7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7799DDE-0E8A-A310-5280-F4BDFBE88C4A}"/>
              </a:ext>
            </a:extLst>
          </p:cNvPr>
          <p:cNvSpPr txBox="1"/>
          <p:nvPr/>
        </p:nvSpPr>
        <p:spPr>
          <a:xfrm>
            <a:off x="10559845" y="5044663"/>
            <a:ext cx="163215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Presented BY </a:t>
            </a:r>
          </a:p>
          <a:p>
            <a:r>
              <a:rPr lang="en-IN" dirty="0"/>
              <a:t>Ankesh</a:t>
            </a:r>
          </a:p>
          <a:p>
            <a:r>
              <a:rPr lang="en-IN" dirty="0"/>
              <a:t>Aamir</a:t>
            </a:r>
          </a:p>
          <a:p>
            <a:r>
              <a:rPr lang="en-IN" dirty="0"/>
              <a:t>Sanjana</a:t>
            </a:r>
          </a:p>
          <a:p>
            <a:endParaRPr lang="en-IN" dirty="0"/>
          </a:p>
          <a:p>
            <a:r>
              <a:rPr lang="en-IN" dirty="0"/>
              <a:t>GROUP - 14</a:t>
            </a:r>
          </a:p>
        </p:txBody>
      </p:sp>
    </p:spTree>
    <p:extLst>
      <p:ext uri="{BB962C8B-B14F-4D97-AF65-F5344CB8AC3E}">
        <p14:creationId xmlns:p14="http://schemas.microsoft.com/office/powerpoint/2010/main" val="1607849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24B42-D0ED-FCE3-CE89-B901A9110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b="1" i="1" dirty="0">
                <a:solidFill>
                  <a:schemeClr val="accent5">
                    <a:lumMod val="50000"/>
                  </a:schemeClr>
                </a:solidFill>
              </a:rPr>
              <a:t>Project Topic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ED570-9F4A-4C36-4BFC-5E92AD8505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5960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3200" i="1" dirty="0"/>
              <a:t>Project Title </a:t>
            </a:r>
            <a:r>
              <a:rPr lang="en-IN" dirty="0"/>
              <a:t>: </a:t>
            </a:r>
          </a:p>
          <a:p>
            <a:pPr marL="0" indent="0">
              <a:buNone/>
            </a:pPr>
            <a:r>
              <a:rPr lang="en-IN" sz="2400" dirty="0"/>
              <a:t>An ML–powered platform for intelligent resume evaluation and data driven hiring 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i="1" dirty="0"/>
              <a:t>Domain :</a:t>
            </a:r>
          </a:p>
          <a:p>
            <a:pPr marL="0" indent="0">
              <a:buNone/>
            </a:pPr>
            <a:r>
              <a:rPr lang="en-IN" sz="2400" dirty="0"/>
              <a:t>Machine Learning + NLP + Intelligent Recruitment Systems .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dirty="0"/>
              <a:t>Focus : </a:t>
            </a:r>
          </a:p>
          <a:p>
            <a:pPr marL="0" indent="0">
              <a:buNone/>
            </a:pPr>
            <a:r>
              <a:rPr lang="en-IN" sz="2400" dirty="0"/>
              <a:t>Semantic resume job matching. Explainable ATS scoring , skill gap detection and intelligent candidate ranking .</a:t>
            </a:r>
          </a:p>
        </p:txBody>
      </p:sp>
    </p:spTree>
    <p:extLst>
      <p:ext uri="{BB962C8B-B14F-4D97-AF65-F5344CB8AC3E}">
        <p14:creationId xmlns:p14="http://schemas.microsoft.com/office/powerpoint/2010/main" val="1207106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E2F62-500A-5F94-88BC-F637F9446E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9755" y="373627"/>
            <a:ext cx="9144000" cy="835741"/>
          </a:xfrm>
        </p:spPr>
        <p:txBody>
          <a:bodyPr>
            <a:normAutofit/>
          </a:bodyPr>
          <a:lstStyle/>
          <a:p>
            <a:pPr algn="ctr"/>
            <a:r>
              <a:rPr lang="en-IN" sz="4000" i="1" dirty="0">
                <a:solidFill>
                  <a:schemeClr val="accent5">
                    <a:lumMod val="50000"/>
                  </a:schemeClr>
                </a:solidFill>
              </a:rPr>
              <a:t>Problem Definition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8EEE91-032D-93E9-4249-4A7349D643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2723" y="1533832"/>
            <a:ext cx="10078064" cy="4950541"/>
          </a:xfrm>
        </p:spPr>
        <p:txBody>
          <a:bodyPr>
            <a:normAutofit fontScale="92500" lnSpcReduction="10000"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en-US" sz="2000" dirty="0"/>
              <a:t>Modern companies use ATS systems for automated resume screening and ranking</a:t>
            </a:r>
          </a:p>
          <a:p>
            <a:pPr marL="457200" indent="-457200" algn="l">
              <a:buFont typeface="+mj-lt"/>
              <a:buAutoNum type="arabicPeriod"/>
            </a:pPr>
            <a:endParaRPr lang="en-US" sz="2000" dirty="0"/>
          </a:p>
          <a:p>
            <a:pPr marL="457200" indent="-457200" algn="l">
              <a:buFont typeface="+mj-lt"/>
              <a:buAutoNum type="arabicPeriod"/>
            </a:pPr>
            <a:r>
              <a:rPr lang="en-US" sz="2000" dirty="0"/>
              <a:t>Most ATS rely heavily on keyword-based filtering</a:t>
            </a:r>
          </a:p>
          <a:p>
            <a:pPr marL="457200" indent="-457200" algn="l">
              <a:buFont typeface="+mj-lt"/>
              <a:buAutoNum type="arabicPeriod"/>
            </a:pPr>
            <a:endParaRPr lang="en-US" sz="2000" dirty="0"/>
          </a:p>
          <a:p>
            <a:pPr marL="457200" indent="-457200" algn="l">
              <a:buFont typeface="+mj-lt"/>
              <a:buAutoNum type="arabicPeriod"/>
            </a:pPr>
            <a:r>
              <a:rPr lang="en-US" sz="2000" dirty="0"/>
              <a:t>Limited semantic understanding of skills, projects, and experience</a:t>
            </a:r>
          </a:p>
          <a:p>
            <a:pPr marL="457200" indent="-457200" algn="l">
              <a:buFont typeface="+mj-lt"/>
              <a:buAutoNum type="arabicPeriod"/>
            </a:pPr>
            <a:endParaRPr lang="en-US" sz="2000" dirty="0"/>
          </a:p>
          <a:p>
            <a:pPr marL="457200" indent="-457200" algn="l">
              <a:buFont typeface="+mj-lt"/>
              <a:buAutoNum type="arabicPeriod"/>
            </a:pPr>
            <a:r>
              <a:rPr lang="en-US" sz="2000" dirty="0"/>
              <a:t>Black-box scoring with no clear explanation for rejection</a:t>
            </a:r>
          </a:p>
          <a:p>
            <a:pPr marL="457200" indent="-457200" algn="l">
              <a:buFont typeface="+mj-lt"/>
              <a:buAutoNum type="arabicPeriod"/>
            </a:pPr>
            <a:endParaRPr lang="en-US" sz="2000" dirty="0"/>
          </a:p>
          <a:p>
            <a:pPr marL="457200" indent="-457200" algn="l">
              <a:buFont typeface="+mj-lt"/>
              <a:buAutoNum type="arabicPeriod"/>
            </a:pPr>
            <a:r>
              <a:rPr lang="en-US" sz="2000" dirty="0"/>
              <a:t>Lack of skill-gap feedback for candidates</a:t>
            </a:r>
          </a:p>
          <a:p>
            <a:pPr marL="457200" indent="-457200" algn="l">
              <a:buFont typeface="+mj-lt"/>
              <a:buAutoNum type="arabicPeriod"/>
            </a:pPr>
            <a:endParaRPr lang="en-US" sz="2000" dirty="0"/>
          </a:p>
          <a:p>
            <a:pPr marL="457200" indent="-457200" algn="l">
              <a:buFont typeface="+mj-lt"/>
              <a:buAutoNum type="arabicPeriod"/>
            </a:pPr>
            <a:r>
              <a:rPr lang="en-US" sz="2000" dirty="0"/>
              <a:t>Static ranking models without adaptive learning from recruiter decisions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711114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6AE91-8B77-7255-A48E-C87534AEE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i="1" dirty="0">
                <a:solidFill>
                  <a:schemeClr val="accent5">
                    <a:lumMod val="50000"/>
                  </a:schemeClr>
                </a:solidFill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6E820-51DA-1E2B-F22F-FAD5846951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2658"/>
            <a:ext cx="10515600" cy="475881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Develop an Explainable AI-based resume evaluation system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Implement semantic resume-job matching using NLP embeddings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Provide explainable ATS scoring with section-wise analysis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Integrate NER, classification, and semantic matching in a unified ML pipeline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Enable intelligent and transparent candidate ranking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7321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77372-EA9D-0B0C-2078-9A864613D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150373"/>
          </a:xfrm>
        </p:spPr>
        <p:txBody>
          <a:bodyPr>
            <a:normAutofit/>
          </a:bodyPr>
          <a:lstStyle/>
          <a:p>
            <a:pPr algn="ctr"/>
            <a:r>
              <a:rPr lang="en-IN" sz="4000" b="1" i="1" dirty="0">
                <a:solidFill>
                  <a:schemeClr val="accent5">
                    <a:lumMod val="50000"/>
                  </a:schemeClr>
                </a:solidFill>
              </a:rPr>
              <a:t>PLATFORM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2EB90-052D-EDE0-6B06-70ECE0F35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103" y="1150374"/>
            <a:ext cx="11080955" cy="7865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i="1" dirty="0">
                <a:solidFill>
                  <a:schemeClr val="accent1">
                    <a:lumMod val="50000"/>
                  </a:schemeClr>
                </a:solidFill>
              </a:rPr>
              <a:t> PUBLIC LAYOUT                  CANDIDAE LAYOUT                RECRUITER LAYOUT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1AD7541-6F5E-1972-DC2F-8925B0277E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4406925"/>
              </p:ext>
            </p:extLst>
          </p:nvPr>
        </p:nvGraphicFramePr>
        <p:xfrm>
          <a:off x="560439" y="2192594"/>
          <a:ext cx="3008671" cy="3854246"/>
        </p:xfrm>
        <a:graphic>
          <a:graphicData uri="http://schemas.openxmlformats.org/drawingml/2006/table">
            <a:tbl>
              <a:tblPr/>
              <a:tblGrid>
                <a:gridCol w="3008671">
                  <a:extLst>
                    <a:ext uri="{9D8B030D-6E8A-4147-A177-3AD203B41FA5}">
                      <a16:colId xmlns:a16="http://schemas.microsoft.com/office/drawing/2014/main" val="4152874633"/>
                    </a:ext>
                  </a:extLst>
                </a:gridCol>
              </a:tblGrid>
              <a:tr h="3854246"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IN" sz="2000" dirty="0"/>
                        <a:t>Platform overview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IN" sz="2000" dirty="0"/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IN" sz="2000" dirty="0"/>
                        <a:t>System Introduction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IN" sz="2000" dirty="0"/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IN" sz="2000" dirty="0"/>
                        <a:t>Role based access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IN" sz="2000" dirty="0"/>
                        <a:t>(Candidate &amp; Recruiter)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IN" sz="2000" dirty="0"/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IN" sz="2000" dirty="0"/>
                        <a:t>Secure Authentication</a:t>
                      </a:r>
                    </a:p>
                    <a:p>
                      <a:endParaRPr lang="en-IN" dirty="0"/>
                    </a:p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25557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5844617-DBE7-26DE-6AEB-09116F18C5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6132656"/>
              </p:ext>
            </p:extLst>
          </p:nvPr>
        </p:nvGraphicFramePr>
        <p:xfrm>
          <a:off x="4513005" y="2192594"/>
          <a:ext cx="2998840" cy="3765754"/>
        </p:xfrm>
        <a:graphic>
          <a:graphicData uri="http://schemas.openxmlformats.org/drawingml/2006/table">
            <a:tbl>
              <a:tblPr/>
              <a:tblGrid>
                <a:gridCol w="2998840">
                  <a:extLst>
                    <a:ext uri="{9D8B030D-6E8A-4147-A177-3AD203B41FA5}">
                      <a16:colId xmlns:a16="http://schemas.microsoft.com/office/drawing/2014/main" val="3439141498"/>
                    </a:ext>
                  </a:extLst>
                </a:gridCol>
              </a:tblGrid>
              <a:tr h="3765754">
                <a:tc>
                  <a:txBody>
                    <a:bodyPr/>
                    <a:lstStyle/>
                    <a:p>
                      <a:r>
                        <a:rPr lang="en-IN" dirty="0"/>
                        <a:t>Resume Builder</a:t>
                      </a:r>
                    </a:p>
                    <a:p>
                      <a:endParaRPr lang="en-IN" dirty="0"/>
                    </a:p>
                    <a:p>
                      <a:r>
                        <a:rPr lang="en-IN" dirty="0"/>
                        <a:t>ML Based Evaluation</a:t>
                      </a:r>
                    </a:p>
                    <a:p>
                      <a:endParaRPr lang="en-IN" dirty="0"/>
                    </a:p>
                    <a:p>
                      <a:r>
                        <a:rPr lang="en-IN" dirty="0"/>
                        <a:t>Section-wise Feedback</a:t>
                      </a:r>
                    </a:p>
                    <a:p>
                      <a:endParaRPr lang="en-IN" dirty="0"/>
                    </a:p>
                    <a:p>
                      <a:r>
                        <a:rPr lang="en-IN" dirty="0"/>
                        <a:t>Skill Gap Detection</a:t>
                      </a:r>
                    </a:p>
                    <a:p>
                      <a:endParaRPr lang="en-IN" dirty="0"/>
                    </a:p>
                    <a:p>
                      <a:r>
                        <a:rPr lang="en-IN" dirty="0"/>
                        <a:t>Job Search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137885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525292A-95D7-0C79-4CD4-1236D822E4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2431914"/>
              </p:ext>
            </p:extLst>
          </p:nvPr>
        </p:nvGraphicFramePr>
        <p:xfrm>
          <a:off x="8455741" y="2192594"/>
          <a:ext cx="2998839" cy="3765754"/>
        </p:xfrm>
        <a:graphic>
          <a:graphicData uri="http://schemas.openxmlformats.org/drawingml/2006/table">
            <a:tbl>
              <a:tblPr/>
              <a:tblGrid>
                <a:gridCol w="2998839">
                  <a:extLst>
                    <a:ext uri="{9D8B030D-6E8A-4147-A177-3AD203B41FA5}">
                      <a16:colId xmlns:a16="http://schemas.microsoft.com/office/drawing/2014/main" val="2638626549"/>
                    </a:ext>
                  </a:extLst>
                </a:gridCol>
              </a:tblGrid>
              <a:tr h="3765754">
                <a:tc>
                  <a:txBody>
                    <a:bodyPr/>
                    <a:lstStyle/>
                    <a:p>
                      <a:r>
                        <a:rPr lang="en-IN" dirty="0"/>
                        <a:t>Job Posting</a:t>
                      </a:r>
                    </a:p>
                    <a:p>
                      <a:endParaRPr lang="en-IN" dirty="0"/>
                    </a:p>
                    <a:p>
                      <a:r>
                        <a:rPr lang="en-IN" dirty="0"/>
                        <a:t>ML based Candidate Shortlisting</a:t>
                      </a:r>
                    </a:p>
                    <a:p>
                      <a:endParaRPr lang="en-IN" dirty="0"/>
                    </a:p>
                    <a:p>
                      <a:r>
                        <a:rPr lang="en-IN" dirty="0"/>
                        <a:t>Intelligent Candidate Ranking </a:t>
                      </a:r>
                    </a:p>
                    <a:p>
                      <a:endParaRPr lang="en-IN" dirty="0"/>
                    </a:p>
                    <a:p>
                      <a:r>
                        <a:rPr lang="en-IN" dirty="0"/>
                        <a:t>Resume Analysis Reports</a:t>
                      </a:r>
                    </a:p>
                    <a:p>
                      <a:endParaRPr lang="en-IN" dirty="0"/>
                    </a:p>
                    <a:p>
                      <a:r>
                        <a:rPr lang="en-IN" dirty="0"/>
                        <a:t>Interview Management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46314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229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B1BB8-F86D-F127-9E2F-317BFAF1F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56650"/>
          </a:xfrm>
        </p:spPr>
        <p:txBody>
          <a:bodyPr/>
          <a:lstStyle/>
          <a:p>
            <a:pPr algn="ctr"/>
            <a:r>
              <a:rPr lang="en-IN" b="1" i="1" dirty="0">
                <a:solidFill>
                  <a:schemeClr val="accent5">
                    <a:lumMod val="50000"/>
                  </a:schemeClr>
                </a:solidFill>
              </a:rPr>
              <a:t>APPLY JOBS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F83489-32EF-1146-3D8F-107CF303BB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206" y="1543665"/>
            <a:ext cx="9950245" cy="4704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13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D4EBC-B469-49AE-F8EB-4E5156ACC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62116"/>
            <a:ext cx="9404723" cy="786581"/>
          </a:xfrm>
        </p:spPr>
        <p:txBody>
          <a:bodyPr/>
          <a:lstStyle/>
          <a:p>
            <a:pPr algn="ctr"/>
            <a:r>
              <a:rPr lang="en-IN" b="1" i="1" dirty="0">
                <a:solidFill>
                  <a:schemeClr val="accent5">
                    <a:lumMod val="50000"/>
                  </a:schemeClr>
                </a:solidFill>
              </a:rPr>
              <a:t>RESUME TEMPLATES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2A73D93-15B9-3EF0-F955-447D12FE4B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7" t="7788" r="3672"/>
          <a:stretch>
            <a:fillRect/>
          </a:stretch>
        </p:blipFill>
        <p:spPr>
          <a:xfrm>
            <a:off x="1012723" y="1396181"/>
            <a:ext cx="10112644" cy="4852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636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D226D-9A6C-91B9-279A-6B1BB217B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668159"/>
          </a:xfrm>
        </p:spPr>
        <p:txBody>
          <a:bodyPr/>
          <a:lstStyle/>
          <a:p>
            <a:pPr algn="ctr"/>
            <a:r>
              <a:rPr lang="en-IN" sz="4000" b="1" i="1" dirty="0">
                <a:solidFill>
                  <a:schemeClr val="accent5">
                    <a:lumMod val="50000"/>
                  </a:schemeClr>
                </a:solidFill>
              </a:rPr>
              <a:t>RESUME BUILDER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0E83FA7-E5A1-3BFB-2E2D-038C92BF71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9" r="2844"/>
          <a:stretch>
            <a:fillRect/>
          </a:stretch>
        </p:blipFill>
        <p:spPr>
          <a:xfrm>
            <a:off x="1042219" y="1445342"/>
            <a:ext cx="10127225" cy="4959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35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109C8-E773-DD86-530B-B9F3B21C0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4000" b="1" i="1" dirty="0">
                <a:solidFill>
                  <a:schemeClr val="accent5">
                    <a:lumMod val="50000"/>
                  </a:schemeClr>
                </a:solidFill>
              </a:rPr>
              <a:t>RESUME EVALUATION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BEB970-1CC3-6A28-4AB4-F3E4C93092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312" y="1494503"/>
            <a:ext cx="10036635" cy="4739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9097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BFAE5-32F1-BCCE-7E55-3E985F6A0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66482"/>
          </a:xfrm>
        </p:spPr>
        <p:txBody>
          <a:bodyPr/>
          <a:lstStyle/>
          <a:p>
            <a:pPr algn="ctr"/>
            <a:r>
              <a:rPr lang="en-IN" sz="4000" b="1" i="1" dirty="0">
                <a:solidFill>
                  <a:schemeClr val="accent5">
                    <a:lumMod val="50000"/>
                  </a:schemeClr>
                </a:solidFill>
              </a:rPr>
              <a:t>SECTION WISE FEEDBACK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695A16-9B31-CC6A-AE07-CEC20D0538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884" y="1533832"/>
            <a:ext cx="10058399" cy="4621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6982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C59BF-BDE5-67A5-5D25-8C65F2BBD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4000" b="1" i="1" dirty="0">
                <a:solidFill>
                  <a:schemeClr val="accent5">
                    <a:lumMod val="50000"/>
                  </a:schemeClr>
                </a:solidFill>
              </a:rPr>
              <a:t>SCHEDULED INTERVIEW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7F6735F-FA4D-62EA-9E3E-783876978D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374" y="1582994"/>
            <a:ext cx="9960077" cy="4665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283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1C748-21CF-18D3-D95D-9B7AFD230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5CE22-5A8E-3166-7921-D130218DD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150373"/>
          </a:xfrm>
        </p:spPr>
        <p:txBody>
          <a:bodyPr>
            <a:normAutofit/>
          </a:bodyPr>
          <a:lstStyle/>
          <a:p>
            <a:pPr algn="ctr"/>
            <a:r>
              <a:rPr lang="en-IN" sz="4000" b="1" i="1" dirty="0">
                <a:solidFill>
                  <a:schemeClr val="accent5">
                    <a:lumMod val="50000"/>
                  </a:schemeClr>
                </a:solidFill>
              </a:rPr>
              <a:t>PLATFORM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E237F-369B-5523-9EA3-18DD769305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103" y="1150374"/>
            <a:ext cx="11080955" cy="7865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i="1" dirty="0">
                <a:solidFill>
                  <a:schemeClr val="accent1">
                    <a:lumMod val="50000"/>
                  </a:schemeClr>
                </a:solidFill>
              </a:rPr>
              <a:t> PUBLIC LAYOUT                  CANDIDAE LAYOUT                RECRUITER LAYOUT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66A9FCF-D583-94B6-B7AB-E5F4D3656DA0}"/>
              </a:ext>
            </a:extLst>
          </p:cNvPr>
          <p:cNvGraphicFramePr>
            <a:graphicFrameLocks noGrp="1"/>
          </p:cNvGraphicFramePr>
          <p:nvPr/>
        </p:nvGraphicFramePr>
        <p:xfrm>
          <a:off x="560439" y="2192594"/>
          <a:ext cx="3008671" cy="3854246"/>
        </p:xfrm>
        <a:graphic>
          <a:graphicData uri="http://schemas.openxmlformats.org/drawingml/2006/table">
            <a:tbl>
              <a:tblPr/>
              <a:tblGrid>
                <a:gridCol w="3008671">
                  <a:extLst>
                    <a:ext uri="{9D8B030D-6E8A-4147-A177-3AD203B41FA5}">
                      <a16:colId xmlns:a16="http://schemas.microsoft.com/office/drawing/2014/main" val="4152874633"/>
                    </a:ext>
                  </a:extLst>
                </a:gridCol>
              </a:tblGrid>
              <a:tr h="3854246"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IN" sz="2000" dirty="0"/>
                        <a:t>Platform overview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IN" sz="2000" dirty="0"/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IN" sz="2000" dirty="0"/>
                        <a:t>System Introduction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IN" sz="2000" dirty="0"/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IN" sz="2000" dirty="0"/>
                        <a:t>Role based access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IN" sz="2000" dirty="0"/>
                        <a:t>(Candidate &amp; Recruiter)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IN" sz="2000" dirty="0"/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IN" sz="2000" dirty="0"/>
                        <a:t>Secure Authentication</a:t>
                      </a:r>
                    </a:p>
                    <a:p>
                      <a:endParaRPr lang="en-IN" dirty="0"/>
                    </a:p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25557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5BF266F-8C8D-88E9-98F1-CFA8343775FE}"/>
              </a:ext>
            </a:extLst>
          </p:cNvPr>
          <p:cNvGraphicFramePr>
            <a:graphicFrameLocks noGrp="1"/>
          </p:cNvGraphicFramePr>
          <p:nvPr/>
        </p:nvGraphicFramePr>
        <p:xfrm>
          <a:off x="4513005" y="2192594"/>
          <a:ext cx="2998840" cy="3765754"/>
        </p:xfrm>
        <a:graphic>
          <a:graphicData uri="http://schemas.openxmlformats.org/drawingml/2006/table">
            <a:tbl>
              <a:tblPr/>
              <a:tblGrid>
                <a:gridCol w="2998840">
                  <a:extLst>
                    <a:ext uri="{9D8B030D-6E8A-4147-A177-3AD203B41FA5}">
                      <a16:colId xmlns:a16="http://schemas.microsoft.com/office/drawing/2014/main" val="3439141498"/>
                    </a:ext>
                  </a:extLst>
                </a:gridCol>
              </a:tblGrid>
              <a:tr h="3765754">
                <a:tc>
                  <a:txBody>
                    <a:bodyPr/>
                    <a:lstStyle/>
                    <a:p>
                      <a:r>
                        <a:rPr lang="en-IN" dirty="0"/>
                        <a:t>Resume Builder</a:t>
                      </a:r>
                    </a:p>
                    <a:p>
                      <a:endParaRPr lang="en-IN" dirty="0"/>
                    </a:p>
                    <a:p>
                      <a:r>
                        <a:rPr lang="en-IN" dirty="0"/>
                        <a:t>ML Based Evaluation</a:t>
                      </a:r>
                    </a:p>
                    <a:p>
                      <a:endParaRPr lang="en-IN" dirty="0"/>
                    </a:p>
                    <a:p>
                      <a:r>
                        <a:rPr lang="en-IN" dirty="0"/>
                        <a:t>Section-wise Feedback</a:t>
                      </a:r>
                    </a:p>
                    <a:p>
                      <a:endParaRPr lang="en-IN" dirty="0"/>
                    </a:p>
                    <a:p>
                      <a:r>
                        <a:rPr lang="en-IN" dirty="0"/>
                        <a:t>Skill Gap Detection</a:t>
                      </a:r>
                    </a:p>
                    <a:p>
                      <a:endParaRPr lang="en-IN" dirty="0"/>
                    </a:p>
                    <a:p>
                      <a:r>
                        <a:rPr lang="en-IN" dirty="0"/>
                        <a:t>Job Search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137885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6C31F5B-14BA-501D-31F7-EB963F335551}"/>
              </a:ext>
            </a:extLst>
          </p:cNvPr>
          <p:cNvGraphicFramePr>
            <a:graphicFrameLocks noGrp="1"/>
          </p:cNvGraphicFramePr>
          <p:nvPr/>
        </p:nvGraphicFramePr>
        <p:xfrm>
          <a:off x="8455741" y="2192594"/>
          <a:ext cx="2998839" cy="3765754"/>
        </p:xfrm>
        <a:graphic>
          <a:graphicData uri="http://schemas.openxmlformats.org/drawingml/2006/table">
            <a:tbl>
              <a:tblPr/>
              <a:tblGrid>
                <a:gridCol w="2998839">
                  <a:extLst>
                    <a:ext uri="{9D8B030D-6E8A-4147-A177-3AD203B41FA5}">
                      <a16:colId xmlns:a16="http://schemas.microsoft.com/office/drawing/2014/main" val="2638626549"/>
                    </a:ext>
                  </a:extLst>
                </a:gridCol>
              </a:tblGrid>
              <a:tr h="3765754">
                <a:tc>
                  <a:txBody>
                    <a:bodyPr/>
                    <a:lstStyle/>
                    <a:p>
                      <a:r>
                        <a:rPr lang="en-IN" dirty="0"/>
                        <a:t>Job Posting</a:t>
                      </a:r>
                    </a:p>
                    <a:p>
                      <a:endParaRPr lang="en-IN" dirty="0"/>
                    </a:p>
                    <a:p>
                      <a:r>
                        <a:rPr lang="en-IN" dirty="0"/>
                        <a:t>ML based Candidate Shortlisting</a:t>
                      </a:r>
                    </a:p>
                    <a:p>
                      <a:endParaRPr lang="en-IN" dirty="0"/>
                    </a:p>
                    <a:p>
                      <a:r>
                        <a:rPr lang="en-IN" dirty="0"/>
                        <a:t>Intelligent Candidate Ranking </a:t>
                      </a:r>
                    </a:p>
                    <a:p>
                      <a:endParaRPr lang="en-IN" dirty="0"/>
                    </a:p>
                    <a:p>
                      <a:r>
                        <a:rPr lang="en-IN" dirty="0"/>
                        <a:t>Resume Analysis Reports</a:t>
                      </a:r>
                    </a:p>
                    <a:p>
                      <a:endParaRPr lang="en-IN" dirty="0"/>
                    </a:p>
                    <a:p>
                      <a:r>
                        <a:rPr lang="en-IN" dirty="0"/>
                        <a:t>Interview Management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46314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61472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9DBD2-0427-8F3E-0A09-909B7D035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354395"/>
            <a:ext cx="9404723" cy="795979"/>
          </a:xfrm>
        </p:spPr>
        <p:txBody>
          <a:bodyPr/>
          <a:lstStyle/>
          <a:p>
            <a:pPr algn="ctr"/>
            <a:r>
              <a:rPr lang="en-IN" sz="4000" b="1" i="1" dirty="0">
                <a:solidFill>
                  <a:schemeClr val="accent5">
                    <a:lumMod val="50000"/>
                  </a:schemeClr>
                </a:solidFill>
              </a:rPr>
              <a:t>JOB POSTING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9E934C-E1C4-1022-44EF-0DC7B3BBFD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313" y="1612489"/>
            <a:ext cx="9987474" cy="4434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7500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21665-8489-C60A-3AF0-46A540F8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36985"/>
          </a:xfrm>
        </p:spPr>
        <p:txBody>
          <a:bodyPr/>
          <a:lstStyle/>
          <a:p>
            <a:pPr algn="ctr"/>
            <a:r>
              <a:rPr lang="en-IN" sz="4000" b="1" i="1" dirty="0">
                <a:solidFill>
                  <a:schemeClr val="accent5">
                    <a:lumMod val="50000"/>
                  </a:schemeClr>
                </a:solidFill>
              </a:rPr>
              <a:t>APPLICANTS TRACKING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500CE0-F514-D816-0EA5-6E3307BB12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729" y="1563329"/>
            <a:ext cx="10186219" cy="4689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4577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90B03-AE9E-3841-1A89-D7FD98941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27153"/>
          </a:xfrm>
        </p:spPr>
        <p:txBody>
          <a:bodyPr/>
          <a:lstStyle/>
          <a:p>
            <a:pPr algn="ctr"/>
            <a:r>
              <a:rPr lang="en-IN" dirty="0"/>
              <a:t> </a:t>
            </a:r>
            <a:r>
              <a:rPr lang="en-IN" sz="4000" b="1" i="1" dirty="0">
                <a:solidFill>
                  <a:schemeClr val="accent5">
                    <a:lumMod val="50000"/>
                  </a:schemeClr>
                </a:solidFill>
              </a:rPr>
              <a:t>CANDIDATES SHORTLISTING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E03DD3-E4C6-500D-3710-25FD3779A3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735" y="1435511"/>
            <a:ext cx="10196052" cy="4837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4697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37228-6F68-B924-F0E3-2A2499EB7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1277"/>
            <a:ext cx="10515600" cy="835742"/>
          </a:xfrm>
        </p:spPr>
        <p:txBody>
          <a:bodyPr>
            <a:normAutofit/>
          </a:bodyPr>
          <a:lstStyle/>
          <a:p>
            <a:pPr algn="ctr"/>
            <a:r>
              <a:rPr lang="en-IN" sz="4000" b="1" i="1" dirty="0">
                <a:solidFill>
                  <a:schemeClr val="accent5">
                    <a:lumMod val="50000"/>
                  </a:schemeClr>
                </a:solidFill>
              </a:rPr>
              <a:t>MACHINE LEARNING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96C51-2341-D7AF-A1DD-12A8F441D8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3200" dirty="0"/>
              <a:t>Type of ML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Supervised NLP based Deep Learning</a:t>
            </a:r>
          </a:p>
          <a:p>
            <a:pPr marL="514350" indent="-514350">
              <a:buFont typeface="+mj-lt"/>
              <a:buAutoNum type="arabicPeriod"/>
            </a:pPr>
            <a:endParaRPr lang="en-IN" dirty="0"/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Multi Task Transformer Pipeline </a:t>
            </a:r>
          </a:p>
          <a:p>
            <a:pPr marL="0" indent="0">
              <a:buNone/>
            </a:pPr>
            <a:r>
              <a:rPr lang="en-IN" dirty="0"/>
              <a:t>      (resume + analysis + matching +  scoring)</a:t>
            </a:r>
          </a:p>
        </p:txBody>
      </p:sp>
    </p:spTree>
    <p:extLst>
      <p:ext uri="{BB962C8B-B14F-4D97-AF65-F5344CB8AC3E}">
        <p14:creationId xmlns:p14="http://schemas.microsoft.com/office/powerpoint/2010/main" val="14083515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A077F-3E33-09E7-CDDD-BEE77E4EC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1110"/>
            <a:ext cx="10515600" cy="786580"/>
          </a:xfrm>
        </p:spPr>
        <p:txBody>
          <a:bodyPr/>
          <a:lstStyle/>
          <a:p>
            <a:pPr algn="ctr"/>
            <a:r>
              <a:rPr lang="en-IN" b="1" i="1" dirty="0">
                <a:solidFill>
                  <a:schemeClr val="accent5">
                    <a:lumMod val="50000"/>
                  </a:schemeClr>
                </a:solidFill>
              </a:rPr>
              <a:t>CORE MODELS USED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0B248-1D64-9F1C-08C5-AEC0EC004B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542" y="1848464"/>
            <a:ext cx="10515600" cy="4063027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IN" dirty="0" err="1"/>
              <a:t>DistilBert</a:t>
            </a:r>
            <a:r>
              <a:rPr lang="en-IN" dirty="0"/>
              <a:t> ( Fine Tuned NER Model)</a:t>
            </a:r>
          </a:p>
          <a:p>
            <a:pPr marL="514350" indent="-514350">
              <a:buFont typeface="+mj-lt"/>
              <a:buAutoNum type="arabicPeriod"/>
            </a:pPr>
            <a:endParaRPr lang="en-IN" dirty="0"/>
          </a:p>
          <a:p>
            <a:pPr marL="514350" indent="-514350">
              <a:buFont typeface="+mj-lt"/>
              <a:buAutoNum type="arabicPeriod"/>
            </a:pPr>
            <a:r>
              <a:rPr lang="en-IN" dirty="0" err="1"/>
              <a:t>MiniLM</a:t>
            </a:r>
            <a:r>
              <a:rPr lang="en-IN" dirty="0"/>
              <a:t>/Sentence-BERT ( Semantic Matching Model)</a:t>
            </a:r>
          </a:p>
          <a:p>
            <a:pPr marL="514350" indent="-514350">
              <a:buFont typeface="+mj-lt"/>
              <a:buAutoNum type="arabicPeriod"/>
            </a:pPr>
            <a:endParaRPr lang="en-IN" dirty="0"/>
          </a:p>
          <a:p>
            <a:pPr marL="514350" indent="-514350">
              <a:buFont typeface="+mj-lt"/>
              <a:buAutoNum type="arabicPeriod"/>
            </a:pPr>
            <a:r>
              <a:rPr lang="en-IN" dirty="0" err="1"/>
              <a:t>XGBoost</a:t>
            </a:r>
            <a:r>
              <a:rPr lang="en-IN" dirty="0"/>
              <a:t>/Regression Scoring Model </a:t>
            </a:r>
          </a:p>
        </p:txBody>
      </p:sp>
    </p:spTree>
    <p:extLst>
      <p:ext uri="{BB962C8B-B14F-4D97-AF65-F5344CB8AC3E}">
        <p14:creationId xmlns:p14="http://schemas.microsoft.com/office/powerpoint/2010/main" val="389572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9421B-4F6A-058A-AEE7-3CAC08A36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1109"/>
            <a:ext cx="10515600" cy="678425"/>
          </a:xfrm>
        </p:spPr>
        <p:txBody>
          <a:bodyPr/>
          <a:lstStyle/>
          <a:p>
            <a:pPr algn="ctr"/>
            <a:r>
              <a:rPr lang="en-IN" b="1" i="1" dirty="0">
                <a:solidFill>
                  <a:schemeClr val="accent5">
                    <a:lumMod val="50000"/>
                  </a:schemeClr>
                </a:solidFill>
              </a:rPr>
              <a:t>DATASETS USED FOR TRAINING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60580-850A-8202-6004-B0EDA30661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9303"/>
            <a:ext cx="10515600" cy="4377660"/>
          </a:xfrm>
        </p:spPr>
        <p:txBody>
          <a:bodyPr/>
          <a:lstStyle/>
          <a:p>
            <a:r>
              <a:rPr lang="en-IN" dirty="0"/>
              <a:t>Resume Classification Dataset(13000+ resumes )</a:t>
            </a:r>
          </a:p>
          <a:p>
            <a:r>
              <a:rPr lang="en-IN" dirty="0"/>
              <a:t>Resume Corpus Dataset ( Annotated NER entries )</a:t>
            </a:r>
          </a:p>
          <a:p>
            <a:r>
              <a:rPr lang="en-IN" dirty="0"/>
              <a:t>Resume NER Training Dataset (22000+ labelled samples )</a:t>
            </a:r>
          </a:p>
          <a:p>
            <a:r>
              <a:rPr lang="en-IN" dirty="0"/>
              <a:t>Combined Resumes Dataset (Synthetic resumes for robustness )</a:t>
            </a:r>
          </a:p>
          <a:p>
            <a:r>
              <a:rPr lang="en-IN" dirty="0"/>
              <a:t>Resume –ATS Score Dataset (Job description pairs )</a:t>
            </a:r>
          </a:p>
          <a:p>
            <a:r>
              <a:rPr lang="en-IN" dirty="0"/>
              <a:t>Vacancy – Resume Matching Dataset ( Human ranked data )</a:t>
            </a:r>
          </a:p>
          <a:p>
            <a:r>
              <a:rPr lang="en-IN" dirty="0"/>
              <a:t>Resume Score Details Dataset ( Macro / Micro scoring criteria for evaluation )</a:t>
            </a:r>
          </a:p>
        </p:txBody>
      </p:sp>
    </p:spTree>
    <p:extLst>
      <p:ext uri="{BB962C8B-B14F-4D97-AF65-F5344CB8AC3E}">
        <p14:creationId xmlns:p14="http://schemas.microsoft.com/office/powerpoint/2010/main" val="40655117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D9687-7082-3D03-1191-15949D496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983226"/>
            <a:ext cx="10739644" cy="5417574"/>
          </a:xfrm>
        </p:spPr>
        <p:txBody>
          <a:bodyPr/>
          <a:lstStyle/>
          <a:p>
            <a:pPr algn="ctr"/>
            <a:br>
              <a:rPr lang="en-IN" sz="8800" b="1" i="1" dirty="0"/>
            </a:br>
            <a:r>
              <a:rPr lang="en-IN" sz="8800" b="1" i="1" dirty="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27677546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123</TotalTime>
  <Words>393</Words>
  <Application>Microsoft Office PowerPoint</Application>
  <PresentationFormat>Widescreen</PresentationFormat>
  <Paragraphs>123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Century Gothic</vt:lpstr>
      <vt:lpstr>Wingdings 3</vt:lpstr>
      <vt:lpstr>Ion</vt:lpstr>
      <vt:lpstr>PowerPoint Presentation</vt:lpstr>
      <vt:lpstr>Project Topic Selection</vt:lpstr>
      <vt:lpstr>Problem Definition</vt:lpstr>
      <vt:lpstr>OBJECTIVES</vt:lpstr>
      <vt:lpstr>PLATFORM LAYOUT</vt:lpstr>
      <vt:lpstr>APPLY JOBS</vt:lpstr>
      <vt:lpstr>RESUME TEMPLATES</vt:lpstr>
      <vt:lpstr>RESUME BUILDER</vt:lpstr>
      <vt:lpstr>RESUME EVALUATION</vt:lpstr>
      <vt:lpstr>SECTION WISE FEEDBACK</vt:lpstr>
      <vt:lpstr>SCHEDULED INTERVIEW </vt:lpstr>
      <vt:lpstr>PLATFORM LAYOUT</vt:lpstr>
      <vt:lpstr>JOB POSTING</vt:lpstr>
      <vt:lpstr>APPLICANTS TRACKING</vt:lpstr>
      <vt:lpstr> CANDIDATES SHORTLISTING</vt:lpstr>
      <vt:lpstr>MACHINE LEARNING APPROACH</vt:lpstr>
      <vt:lpstr>CORE MODELS USED </vt:lpstr>
      <vt:lpstr>DATASETS USED FOR TRAINING </vt:lpstr>
      <vt:lpstr> THANK YOU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ankeshchaubey6@gmail.com</dc:creator>
  <cp:lastModifiedBy>ankeshchaubey6@gmail.com</cp:lastModifiedBy>
  <cp:revision>4</cp:revision>
  <dcterms:created xsi:type="dcterms:W3CDTF">2026-02-14T08:49:54Z</dcterms:created>
  <dcterms:modified xsi:type="dcterms:W3CDTF">2026-02-16T03:38:09Z</dcterms:modified>
</cp:coreProperties>
</file>